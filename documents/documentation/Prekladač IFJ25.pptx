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99D677-B125-45E2-9508-DF0BC3A7C24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FD5AC-A3DC-4491-82B5-1865B3227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06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FD5AC-A3DC-4491-82B5-1865B3227B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17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FD5AC-A3DC-4491-82B5-1865B3227B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65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FD5AC-A3DC-4491-82B5-1865B3227B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3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FD5AC-A3DC-4491-82B5-1865B3227B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57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FD5AC-A3DC-4491-82B5-1865B3227BD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056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FD5AC-A3DC-4491-82B5-1865B3227B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62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FD5AC-A3DC-4491-82B5-1865B3227BD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48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FD5AC-A3DC-4491-82B5-1865B3227BD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51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FD5AC-A3DC-4491-82B5-1865B3227BD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373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FD5AC-A3DC-4491-82B5-1865B3227BD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15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FD5AC-A3DC-4491-82B5-1865B3227BD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048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FD5AC-A3DC-4491-82B5-1865B3227BD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82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FD5AC-A3DC-4491-82B5-1865B3227BD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388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FD5AC-A3DC-4491-82B5-1865B3227BD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82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FD5AC-A3DC-4491-82B5-1865B3227BD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973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FD5AC-A3DC-4491-82B5-1865B3227BD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58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B48B6-995D-4D3F-B2E0-D5FD1A4E8E1B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94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3E960-D9FA-442C-80D2-6F1C0A3A06DC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287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7DFC5-1813-4099-B160-7E2F9F2CF725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338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C7B3E-14F8-4F93-93B7-56999F0EB975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72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337A-49E6-4287-A26B-C9197D6A7270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142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32AF1-7A7F-48FF-BF3D-1526087A29BF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985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5CE4-9A7E-4EAC-93FB-8A3F14E3C08C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58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FFE-18D1-4CDA-9612-6EAB3558F549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91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901CD-2847-4607-91BF-73F3796E1C9A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13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A2E0-E01F-4823-87E8-568A0A771E6C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90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966E2-AEAC-4A9E-BA9F-970D31074DA6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717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A0D2-7C02-482C-AFB9-048720AEB3EA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7733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3EC0-123B-4CF3-AA08-733D54B2B2CE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575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0A41-0D1D-4317-973A-08E7812FCA7F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859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A2F92-44E8-48E1-9A49-F0554E185EDE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987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C4235-FABD-4BDF-B048-A30E44A49C31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197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92DA-7E1A-454B-9E37-10269685DA83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48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00061B6-F538-4689-B12A-752A0525EEC2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8EC2247-F8A7-4A51-8038-FC0423DEE2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1713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C36A-5671-296B-9408-2C6DAA949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2607033"/>
            <a:ext cx="9440034" cy="991308"/>
          </a:xfrm>
        </p:spPr>
        <p:txBody>
          <a:bodyPr/>
          <a:lstStyle/>
          <a:p>
            <a:r>
              <a:rPr lang="sk-SK" noProof="0" dirty="0"/>
              <a:t>Prekladač IFJ25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337A8-23FA-C226-E855-433FDA19A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646" y="4319790"/>
            <a:ext cx="4257368" cy="1655762"/>
          </a:xfrm>
        </p:spPr>
        <p:txBody>
          <a:bodyPr/>
          <a:lstStyle/>
          <a:p>
            <a:pPr algn="l"/>
            <a:r>
              <a:rPr lang="sk-SK" sz="1800" b="0" i="0" u="none" strike="noStrike" baseline="0" noProof="0" dirty="0">
                <a:latin typeface="SFBX1095"/>
              </a:rPr>
              <a:t>Martin Michálik 	</a:t>
            </a:r>
            <a:r>
              <a:rPr lang="sk-SK" sz="1800" b="0" i="0" u="none" strike="noStrike" baseline="0" noProof="0" dirty="0">
                <a:latin typeface="SFRM1095"/>
              </a:rPr>
              <a:t>(xmicham00) </a:t>
            </a:r>
            <a:r>
              <a:rPr lang="sk-SK" sz="1800" noProof="0" dirty="0">
                <a:latin typeface="SFRM1095"/>
              </a:rPr>
              <a:t>	</a:t>
            </a:r>
            <a:r>
              <a:rPr lang="sk-SK" sz="1800" b="0" i="0" u="none" strike="noStrike" baseline="0" noProof="0" dirty="0">
                <a:latin typeface="SFRM1095"/>
              </a:rPr>
              <a:t>[Vedúci]</a:t>
            </a:r>
          </a:p>
          <a:p>
            <a:pPr algn="l"/>
            <a:r>
              <a:rPr lang="sk-SK" sz="1800" b="0" i="0" u="none" strike="noStrike" baseline="0" noProof="0" dirty="0">
                <a:latin typeface="SFBX1095"/>
              </a:rPr>
              <a:t>Matúš Magyar 	</a:t>
            </a:r>
            <a:r>
              <a:rPr lang="sk-SK" sz="1800" b="0" i="0" u="none" strike="noStrike" baseline="0" noProof="0" dirty="0">
                <a:latin typeface="SFRM1095"/>
              </a:rPr>
              <a:t>(xmagyam00)</a:t>
            </a:r>
          </a:p>
          <a:p>
            <a:pPr algn="l"/>
            <a:r>
              <a:rPr lang="sk-SK" sz="1800" b="0" i="0" u="none" strike="noStrike" baseline="0" noProof="0" dirty="0">
                <a:latin typeface="SFBX1095"/>
              </a:rPr>
              <a:t>Šimon Škoda 		</a:t>
            </a:r>
            <a:r>
              <a:rPr lang="sk-SK" sz="1800" b="0" i="0" u="none" strike="noStrike" baseline="0" noProof="0" dirty="0">
                <a:latin typeface="SFRM1095"/>
              </a:rPr>
              <a:t>(xskodas00)</a:t>
            </a:r>
          </a:p>
          <a:p>
            <a:pPr algn="l"/>
            <a:r>
              <a:rPr lang="sk-SK" sz="1800" b="0" i="0" u="none" strike="noStrike" baseline="0" noProof="0" dirty="0">
                <a:latin typeface="SFBX1095"/>
              </a:rPr>
              <a:t>Jaroslav Vrbiniak 	</a:t>
            </a:r>
            <a:r>
              <a:rPr lang="sk-SK" sz="1800" b="0" i="0" u="none" strike="noStrike" baseline="0" noProof="0" dirty="0">
                <a:latin typeface="SFRM1095"/>
              </a:rPr>
              <a:t>(xvrbinj00) 	</a:t>
            </a:r>
            <a:endParaRPr lang="sk-SK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10904-3495-8E02-5757-A8C1C65B213F}"/>
              </a:ext>
            </a:extLst>
          </p:cNvPr>
          <p:cNvSpPr txBox="1"/>
          <p:nvPr/>
        </p:nvSpPr>
        <p:spPr>
          <a:xfrm>
            <a:off x="10874481" y="6390971"/>
            <a:ext cx="167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noProof="0" dirty="0"/>
              <a:t>6.12.2025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C47B69-2C4C-DAA8-5100-E00042463BB3}"/>
              </a:ext>
            </a:extLst>
          </p:cNvPr>
          <p:cNvSpPr txBox="1">
            <a:spLocks/>
          </p:cNvSpPr>
          <p:nvPr/>
        </p:nvSpPr>
        <p:spPr>
          <a:xfrm>
            <a:off x="1524000" y="480296"/>
            <a:ext cx="9144000" cy="1181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sz="3600" b="0" i="0" u="none" strike="noStrike" baseline="0" noProof="0" dirty="0">
                <a:latin typeface="Calisto MT "/>
              </a:rPr>
              <a:t>Vysoké učení technické v Brně</a:t>
            </a:r>
          </a:p>
          <a:p>
            <a:r>
              <a:rPr lang="sk-SK" sz="3600" b="0" i="0" u="none" strike="noStrike" baseline="0" noProof="0" dirty="0">
                <a:latin typeface="Calisto MT "/>
              </a:rPr>
              <a:t>Fakulta informačních technologií</a:t>
            </a:r>
            <a:endParaRPr lang="sk-SK" sz="3600" noProof="0" dirty="0">
              <a:latin typeface="Calisto MT "/>
            </a:endParaRPr>
          </a:p>
        </p:txBody>
      </p:sp>
      <p:pic>
        <p:nvPicPr>
          <p:cNvPr id="7" name="Picture 6" descr="A red and white logo&#10;&#10;AI-generated content may be incorrect.">
            <a:extLst>
              <a:ext uri="{FF2B5EF4-FFF2-40B4-BE49-F238E27FC236}">
                <a16:creationId xmlns:a16="http://schemas.microsoft.com/office/drawing/2014/main" id="{9A663240-5281-FBAE-C54D-E84830273D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46" y="422174"/>
            <a:ext cx="1283929" cy="128392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0BC9D-E5A4-FE9A-8C36-3151F1BDD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819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69960A3-4EE1-43D2-ABFC-C7A03ED21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71D49-4601-5B46-E9BE-DE35AA378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164772"/>
          </a:xfrm>
        </p:spPr>
        <p:txBody>
          <a:bodyPr>
            <a:normAutofit/>
          </a:bodyPr>
          <a:lstStyle/>
          <a:p>
            <a:r>
              <a:rPr lang="sk-SK" noProof="0"/>
              <a:t>Cieľ projektu</a:t>
            </a:r>
            <a:endParaRPr lang="sk-SK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ABCF9F-46A6-4370-8EC8-B1EDB4510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2046514"/>
            <a:ext cx="12192001" cy="4811485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155E1-027F-AF24-5DCE-3E1F80C66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528" y="2481943"/>
            <a:ext cx="9710296" cy="3309258"/>
          </a:xfrm>
        </p:spPr>
        <p:txBody>
          <a:bodyPr>
            <a:normAutofit/>
          </a:bodyPr>
          <a:lstStyle/>
          <a:p>
            <a:endParaRPr lang="sk-SK" noProof="0"/>
          </a:p>
          <a:p>
            <a:r>
              <a:rPr lang="sk-SK" noProof="0"/>
              <a:t>Implementovať funkčný prekladač</a:t>
            </a:r>
          </a:p>
          <a:p>
            <a:endParaRPr lang="sk-SK" noProof="0"/>
          </a:p>
          <a:p>
            <a:r>
              <a:rPr lang="sk-SK" noProof="0"/>
              <a:t>Správna lexikálna, syntaktická, sémantická analýza</a:t>
            </a:r>
          </a:p>
          <a:p>
            <a:endParaRPr lang="sk-SK" noProof="0"/>
          </a:p>
          <a:p>
            <a:r>
              <a:rPr lang="sk-SK" noProof="0"/>
              <a:t>Generovanie medzikódu</a:t>
            </a:r>
            <a:endParaRPr lang="sk-SK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8433C-5A06-1F81-26E8-9FF5E8145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957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960A3-4EE1-43D2-ABFC-C7A03ED21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9CE88B-6037-4D6A-2144-2E5529085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164772"/>
          </a:xfrm>
        </p:spPr>
        <p:txBody>
          <a:bodyPr>
            <a:normAutofit/>
          </a:bodyPr>
          <a:lstStyle/>
          <a:p>
            <a:r>
              <a:rPr lang="sk-SK" noProof="0" dirty="0"/>
              <a:t>Architektúra projektu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ABCF9F-46A6-4370-8EC8-B1EDB4510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2046514"/>
            <a:ext cx="12192001" cy="4811485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4B73A-650B-C5FE-5421-B067ED9B5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528" y="2481943"/>
            <a:ext cx="9710296" cy="3309258"/>
          </a:xfrm>
        </p:spPr>
        <p:txBody>
          <a:bodyPr>
            <a:normAutofit/>
          </a:bodyPr>
          <a:lstStyle/>
          <a:p>
            <a:endParaRPr lang="sk-SK" noProof="0" dirty="0"/>
          </a:p>
          <a:p>
            <a:r>
              <a:rPr lang="sk-SK" noProof="0" dirty="0"/>
              <a:t>Prehľad modulov</a:t>
            </a:r>
          </a:p>
          <a:p>
            <a:endParaRPr lang="sk-SK" noProof="0" dirty="0"/>
          </a:p>
          <a:p>
            <a:r>
              <a:rPr lang="sk-SK" noProof="0" dirty="0"/>
              <a:t>C, modulárny dizajn</a:t>
            </a:r>
          </a:p>
          <a:p>
            <a:endParaRPr lang="sk-SK" noProof="0" dirty="0"/>
          </a:p>
          <a:p>
            <a:r>
              <a:rPr lang="sk-SK" noProof="0" dirty="0"/>
              <a:t>AST, parser, symtable, generator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8C62C-8982-D1DE-1C6A-BCBBDDA95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355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960A3-4EE1-43D2-ABFC-C7A03ED21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9D302F-BDCE-866A-2374-D31E58A57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164772"/>
          </a:xfrm>
        </p:spPr>
        <p:txBody>
          <a:bodyPr>
            <a:normAutofit/>
          </a:bodyPr>
          <a:lstStyle/>
          <a:p>
            <a:r>
              <a:rPr lang="sk-SK" noProof="0" dirty="0"/>
              <a:t>Lexikálna analýza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ABCF9F-46A6-4370-8EC8-B1EDB4510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2046514"/>
            <a:ext cx="12192001" cy="4811485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A59AC-1A11-C4F7-BD86-09D98E9F2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528" y="2481943"/>
            <a:ext cx="9710296" cy="3309258"/>
          </a:xfrm>
        </p:spPr>
        <p:txBody>
          <a:bodyPr>
            <a:normAutofit/>
          </a:bodyPr>
          <a:lstStyle/>
          <a:p>
            <a:endParaRPr lang="sk-SK" noProof="0" dirty="0"/>
          </a:p>
          <a:p>
            <a:r>
              <a:rPr lang="sk-SK" noProof="0" dirty="0"/>
              <a:t>DKA – deterministický automat</a:t>
            </a:r>
          </a:p>
          <a:p>
            <a:endParaRPr lang="sk-SK" noProof="0" dirty="0"/>
          </a:p>
          <a:p>
            <a:r>
              <a:rPr lang="sk-SK" noProof="0" dirty="0">
                <a:latin typeface="Consolas" panose="020B0609020204030204" pitchFamily="49" charset="0"/>
              </a:rPr>
              <a:t>get_next_token()</a:t>
            </a:r>
          </a:p>
          <a:p>
            <a:endParaRPr lang="sk-SK" noProof="0" dirty="0">
              <a:latin typeface="Consolas" panose="020B0609020204030204" pitchFamily="49" charset="0"/>
            </a:endParaRPr>
          </a:p>
          <a:p>
            <a:r>
              <a:rPr lang="sk-SK" noProof="0" dirty="0"/>
              <a:t>Reťazce, komentáre, číselné literály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ECAA9-C035-8D69-C69A-C857F55A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78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960A3-4EE1-43D2-ABFC-C7A03ED21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B86F2C-66E8-9165-9682-F4B937DE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164772"/>
          </a:xfrm>
        </p:spPr>
        <p:txBody>
          <a:bodyPr>
            <a:normAutofit/>
          </a:bodyPr>
          <a:lstStyle/>
          <a:p>
            <a:r>
              <a:rPr lang="sk-SK" noProof="0" dirty="0"/>
              <a:t>Lexikálna analýza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ABCF9F-46A6-4370-8EC8-B1EDB4510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2046514"/>
            <a:ext cx="12192001" cy="4811485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79D35-4997-3232-6D34-77A1B0F36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528" y="2481943"/>
            <a:ext cx="9710296" cy="330925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sk-SK" noProof="0"/>
          </a:p>
          <a:p>
            <a:pPr>
              <a:lnSpc>
                <a:spcPct val="90000"/>
              </a:lnSpc>
            </a:pPr>
            <a:r>
              <a:rPr lang="sk-SK" noProof="0" dirty="0"/>
              <a:t>Viacriadkové stringy</a:t>
            </a:r>
            <a:endParaRPr lang="sk-SK" noProof="0"/>
          </a:p>
          <a:p>
            <a:pPr>
              <a:lnSpc>
                <a:spcPct val="90000"/>
              </a:lnSpc>
            </a:pPr>
            <a:endParaRPr lang="sk-SK" noProof="0"/>
          </a:p>
          <a:p>
            <a:pPr>
              <a:lnSpc>
                <a:spcPct val="90000"/>
              </a:lnSpc>
            </a:pPr>
            <a:r>
              <a:rPr lang="sk-SK" noProof="0" dirty="0"/>
              <a:t>Vnorené komentáre</a:t>
            </a:r>
            <a:endParaRPr lang="sk-SK" noProof="0"/>
          </a:p>
          <a:p>
            <a:pPr>
              <a:lnSpc>
                <a:spcPct val="90000"/>
              </a:lnSpc>
            </a:pPr>
            <a:endParaRPr lang="sk-SK" noProof="0"/>
          </a:p>
          <a:p>
            <a:pPr>
              <a:lnSpc>
                <a:spcPct val="90000"/>
              </a:lnSpc>
            </a:pPr>
            <a:r>
              <a:rPr lang="sk-SK" noProof="0" dirty="0"/>
              <a:t>Hex + exponent</a:t>
            </a:r>
            <a:endParaRPr lang="sk-SK" noProof="0"/>
          </a:p>
          <a:p>
            <a:pPr>
              <a:lnSpc>
                <a:spcPct val="90000"/>
              </a:lnSpc>
            </a:pPr>
            <a:endParaRPr lang="sk-SK" noProof="0"/>
          </a:p>
          <a:p>
            <a:pPr>
              <a:lnSpc>
                <a:spcPct val="90000"/>
              </a:lnSpc>
            </a:pPr>
            <a:r>
              <a:rPr lang="sk-SK" noProof="0" dirty="0"/>
              <a:t>Dynamický buffer</a:t>
            </a:r>
            <a:endParaRPr lang="sk-SK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E5CA9-FE51-A428-319F-1F9BC5B14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858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E482A67-6CD8-49D7-9F85-52ECF9915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B99D0C-393C-7F24-6630-5CFD223AA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617" y="965196"/>
            <a:ext cx="3137262" cy="26331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DADADA"/>
                </a:solidFill>
              </a:rPr>
              <a:t>Diagram konečného automatu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8F941B-B7E9-44F2-9A2C-5D35ACF9A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0614" y="965196"/>
            <a:ext cx="6476539" cy="4781641"/>
          </a:xfrm>
          <a:prstGeom prst="rect">
            <a:avLst/>
          </a:prstGeom>
          <a:solidFill>
            <a:schemeClr val="bg1"/>
          </a:solidFill>
          <a:ln w="190500">
            <a:solidFill>
              <a:srgbClr val="FFFFFF">
                <a:alpha val="7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diagram of a computer&#10;&#10;AI-generated content may be incorrect.">
            <a:extLst>
              <a:ext uri="{FF2B5EF4-FFF2-40B4-BE49-F238E27FC236}">
                <a16:creationId xmlns:a16="http://schemas.microsoft.com/office/drawing/2014/main" id="{7A92EFC9-CA28-4E0D-E969-BFA631C44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533" y="965195"/>
            <a:ext cx="4891702" cy="478164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801FB5-6F37-9BAC-483E-F962C53A9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470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960A3-4EE1-43D2-ABFC-C7A03ED21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A78D8-ECEB-F5B8-7F9B-167A373E4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164772"/>
          </a:xfrm>
        </p:spPr>
        <p:txBody>
          <a:bodyPr>
            <a:normAutofit/>
          </a:bodyPr>
          <a:lstStyle/>
          <a:p>
            <a:r>
              <a:rPr lang="sk-SK" noProof="0" dirty="0"/>
              <a:t>Syntaktická analýza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ABCF9F-46A6-4370-8EC8-B1EDB4510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2046514"/>
            <a:ext cx="12192001" cy="4811485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95653-E371-AE98-A5AB-7E1620008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528" y="2481943"/>
            <a:ext cx="9710296" cy="330925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sk-SK" noProof="0"/>
          </a:p>
          <a:p>
            <a:pPr>
              <a:lnSpc>
                <a:spcPct val="90000"/>
              </a:lnSpc>
            </a:pPr>
            <a:r>
              <a:rPr lang="sk-SK" noProof="0" dirty="0"/>
              <a:t>Rekurzívny zostup</a:t>
            </a:r>
            <a:endParaRPr lang="sk-SK" noProof="0"/>
          </a:p>
          <a:p>
            <a:pPr>
              <a:lnSpc>
                <a:spcPct val="90000"/>
              </a:lnSpc>
            </a:pPr>
            <a:endParaRPr lang="sk-SK" noProof="0"/>
          </a:p>
          <a:p>
            <a:pPr>
              <a:lnSpc>
                <a:spcPct val="90000"/>
              </a:lnSpc>
            </a:pPr>
            <a:r>
              <a:rPr lang="sk-SK" noProof="0" dirty="0"/>
              <a:t>LL gramatika</a:t>
            </a:r>
            <a:endParaRPr lang="sk-SK" noProof="0"/>
          </a:p>
          <a:p>
            <a:pPr>
              <a:lnSpc>
                <a:spcPct val="90000"/>
              </a:lnSpc>
            </a:pPr>
            <a:endParaRPr lang="sk-SK" noProof="0"/>
          </a:p>
          <a:p>
            <a:pPr>
              <a:lnSpc>
                <a:spcPct val="90000"/>
              </a:lnSpc>
            </a:pPr>
            <a:r>
              <a:rPr lang="sk-SK" noProof="0" dirty="0"/>
              <a:t>putback_token</a:t>
            </a:r>
            <a:endParaRPr lang="sk-SK" noProof="0"/>
          </a:p>
          <a:p>
            <a:pPr>
              <a:lnSpc>
                <a:spcPct val="90000"/>
              </a:lnSpc>
            </a:pPr>
            <a:endParaRPr lang="sk-SK" noProof="0"/>
          </a:p>
          <a:p>
            <a:pPr>
              <a:lnSpc>
                <a:spcPct val="90000"/>
              </a:lnSpc>
            </a:pPr>
            <a:r>
              <a:rPr lang="sk-SK" noProof="0" dirty="0"/>
              <a:t>AST pre výrazy</a:t>
            </a:r>
            <a:endParaRPr lang="sk-SK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3C477-D9DE-CFCC-6CC5-6C0FF7B7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118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00195-7818-4C09-2FA2-A9A661983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sk-SK" noProof="0" dirty="0"/>
              <a:t>Precedenčná analýza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4752E6-D5A8-1445-A433-29CABDDE0A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7549221"/>
              </p:ext>
            </p:extLst>
          </p:nvPr>
        </p:nvGraphicFramePr>
        <p:xfrm>
          <a:off x="914400" y="1813269"/>
          <a:ext cx="10353680" cy="3896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7105">
                  <a:extLst>
                    <a:ext uri="{9D8B030D-6E8A-4147-A177-3AD203B41FA5}">
                      <a16:colId xmlns:a16="http://schemas.microsoft.com/office/drawing/2014/main" val="568968028"/>
                    </a:ext>
                  </a:extLst>
                </a:gridCol>
                <a:gridCol w="647105">
                  <a:extLst>
                    <a:ext uri="{9D8B030D-6E8A-4147-A177-3AD203B41FA5}">
                      <a16:colId xmlns:a16="http://schemas.microsoft.com/office/drawing/2014/main" val="4061804174"/>
                    </a:ext>
                  </a:extLst>
                </a:gridCol>
                <a:gridCol w="647105">
                  <a:extLst>
                    <a:ext uri="{9D8B030D-6E8A-4147-A177-3AD203B41FA5}">
                      <a16:colId xmlns:a16="http://schemas.microsoft.com/office/drawing/2014/main" val="132165871"/>
                    </a:ext>
                  </a:extLst>
                </a:gridCol>
                <a:gridCol w="647105">
                  <a:extLst>
                    <a:ext uri="{9D8B030D-6E8A-4147-A177-3AD203B41FA5}">
                      <a16:colId xmlns:a16="http://schemas.microsoft.com/office/drawing/2014/main" val="477761597"/>
                    </a:ext>
                  </a:extLst>
                </a:gridCol>
                <a:gridCol w="647105">
                  <a:extLst>
                    <a:ext uri="{9D8B030D-6E8A-4147-A177-3AD203B41FA5}">
                      <a16:colId xmlns:a16="http://schemas.microsoft.com/office/drawing/2014/main" val="4241378772"/>
                    </a:ext>
                  </a:extLst>
                </a:gridCol>
                <a:gridCol w="647105">
                  <a:extLst>
                    <a:ext uri="{9D8B030D-6E8A-4147-A177-3AD203B41FA5}">
                      <a16:colId xmlns:a16="http://schemas.microsoft.com/office/drawing/2014/main" val="3551396879"/>
                    </a:ext>
                  </a:extLst>
                </a:gridCol>
                <a:gridCol w="647105">
                  <a:extLst>
                    <a:ext uri="{9D8B030D-6E8A-4147-A177-3AD203B41FA5}">
                      <a16:colId xmlns:a16="http://schemas.microsoft.com/office/drawing/2014/main" val="1735668820"/>
                    </a:ext>
                  </a:extLst>
                </a:gridCol>
                <a:gridCol w="647105">
                  <a:extLst>
                    <a:ext uri="{9D8B030D-6E8A-4147-A177-3AD203B41FA5}">
                      <a16:colId xmlns:a16="http://schemas.microsoft.com/office/drawing/2014/main" val="456145375"/>
                    </a:ext>
                  </a:extLst>
                </a:gridCol>
                <a:gridCol w="647105">
                  <a:extLst>
                    <a:ext uri="{9D8B030D-6E8A-4147-A177-3AD203B41FA5}">
                      <a16:colId xmlns:a16="http://schemas.microsoft.com/office/drawing/2014/main" val="1796107143"/>
                    </a:ext>
                  </a:extLst>
                </a:gridCol>
                <a:gridCol w="647105">
                  <a:extLst>
                    <a:ext uri="{9D8B030D-6E8A-4147-A177-3AD203B41FA5}">
                      <a16:colId xmlns:a16="http://schemas.microsoft.com/office/drawing/2014/main" val="956140943"/>
                    </a:ext>
                  </a:extLst>
                </a:gridCol>
                <a:gridCol w="647105">
                  <a:extLst>
                    <a:ext uri="{9D8B030D-6E8A-4147-A177-3AD203B41FA5}">
                      <a16:colId xmlns:a16="http://schemas.microsoft.com/office/drawing/2014/main" val="107552313"/>
                    </a:ext>
                  </a:extLst>
                </a:gridCol>
                <a:gridCol w="647105">
                  <a:extLst>
                    <a:ext uri="{9D8B030D-6E8A-4147-A177-3AD203B41FA5}">
                      <a16:colId xmlns:a16="http://schemas.microsoft.com/office/drawing/2014/main" val="1924941011"/>
                    </a:ext>
                  </a:extLst>
                </a:gridCol>
                <a:gridCol w="647105">
                  <a:extLst>
                    <a:ext uri="{9D8B030D-6E8A-4147-A177-3AD203B41FA5}">
                      <a16:colId xmlns:a16="http://schemas.microsoft.com/office/drawing/2014/main" val="3402012611"/>
                    </a:ext>
                  </a:extLst>
                </a:gridCol>
                <a:gridCol w="647105">
                  <a:extLst>
                    <a:ext uri="{9D8B030D-6E8A-4147-A177-3AD203B41FA5}">
                      <a16:colId xmlns:a16="http://schemas.microsoft.com/office/drawing/2014/main" val="2885128023"/>
                    </a:ext>
                  </a:extLst>
                </a:gridCol>
                <a:gridCol w="647105">
                  <a:extLst>
                    <a:ext uri="{9D8B030D-6E8A-4147-A177-3AD203B41FA5}">
                      <a16:colId xmlns:a16="http://schemas.microsoft.com/office/drawing/2014/main" val="1507095063"/>
                    </a:ext>
                  </a:extLst>
                </a:gridCol>
                <a:gridCol w="647105">
                  <a:extLst>
                    <a:ext uri="{9D8B030D-6E8A-4147-A177-3AD203B41FA5}">
                      <a16:colId xmlns:a16="http://schemas.microsoft.com/office/drawing/2014/main" val="1660325673"/>
                    </a:ext>
                  </a:extLst>
                </a:gridCol>
              </a:tblGrid>
              <a:tr h="243540"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(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)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+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-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*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/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&lt;=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&gt;=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==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!=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is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$</a:t>
                      </a:r>
                    </a:p>
                  </a:txBody>
                  <a:tcPr marL="55350" marR="55350" marT="27675" marB="27675"/>
                </a:tc>
                <a:extLst>
                  <a:ext uri="{0D108BD9-81ED-4DB2-BD59-A6C34878D82A}">
                    <a16:rowId xmlns:a16="http://schemas.microsoft.com/office/drawing/2014/main" val="2421532009"/>
                  </a:ext>
                </a:extLst>
              </a:tr>
              <a:tr h="24354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(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=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extLst>
                  <a:ext uri="{0D108BD9-81ED-4DB2-BD59-A6C34878D82A}">
                    <a16:rowId xmlns:a16="http://schemas.microsoft.com/office/drawing/2014/main" val="631621145"/>
                  </a:ext>
                </a:extLst>
              </a:tr>
              <a:tr h="24354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)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extLst>
                  <a:ext uri="{0D108BD9-81ED-4DB2-BD59-A6C34878D82A}">
                    <a16:rowId xmlns:a16="http://schemas.microsoft.com/office/drawing/2014/main" val="2719108804"/>
                  </a:ext>
                </a:extLst>
              </a:tr>
              <a:tr h="24354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extLst>
                  <a:ext uri="{0D108BD9-81ED-4DB2-BD59-A6C34878D82A}">
                    <a16:rowId xmlns:a16="http://schemas.microsoft.com/office/drawing/2014/main" val="422276696"/>
                  </a:ext>
                </a:extLst>
              </a:tr>
              <a:tr h="24354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+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extLst>
                  <a:ext uri="{0D108BD9-81ED-4DB2-BD59-A6C34878D82A}">
                    <a16:rowId xmlns:a16="http://schemas.microsoft.com/office/drawing/2014/main" val="1396543141"/>
                  </a:ext>
                </a:extLst>
              </a:tr>
              <a:tr h="24354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-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extLst>
                  <a:ext uri="{0D108BD9-81ED-4DB2-BD59-A6C34878D82A}">
                    <a16:rowId xmlns:a16="http://schemas.microsoft.com/office/drawing/2014/main" val="1096672159"/>
                  </a:ext>
                </a:extLst>
              </a:tr>
              <a:tr h="24354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*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extLst>
                  <a:ext uri="{0D108BD9-81ED-4DB2-BD59-A6C34878D82A}">
                    <a16:rowId xmlns:a16="http://schemas.microsoft.com/office/drawing/2014/main" val="1897120484"/>
                  </a:ext>
                </a:extLst>
              </a:tr>
              <a:tr h="24354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/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extLst>
                  <a:ext uri="{0D108BD9-81ED-4DB2-BD59-A6C34878D82A}">
                    <a16:rowId xmlns:a16="http://schemas.microsoft.com/office/drawing/2014/main" val="3838476219"/>
                  </a:ext>
                </a:extLst>
              </a:tr>
              <a:tr h="24354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extLst>
                  <a:ext uri="{0D108BD9-81ED-4DB2-BD59-A6C34878D82A}">
                    <a16:rowId xmlns:a16="http://schemas.microsoft.com/office/drawing/2014/main" val="3751422143"/>
                  </a:ext>
                </a:extLst>
              </a:tr>
              <a:tr h="24354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&lt;=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extLst>
                  <a:ext uri="{0D108BD9-81ED-4DB2-BD59-A6C34878D82A}">
                    <a16:rowId xmlns:a16="http://schemas.microsoft.com/office/drawing/2014/main" val="3714227164"/>
                  </a:ext>
                </a:extLst>
              </a:tr>
              <a:tr h="24354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extLst>
                  <a:ext uri="{0D108BD9-81ED-4DB2-BD59-A6C34878D82A}">
                    <a16:rowId xmlns:a16="http://schemas.microsoft.com/office/drawing/2014/main" val="2845611242"/>
                  </a:ext>
                </a:extLst>
              </a:tr>
              <a:tr h="24354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&gt;=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extLst>
                  <a:ext uri="{0D108BD9-81ED-4DB2-BD59-A6C34878D82A}">
                    <a16:rowId xmlns:a16="http://schemas.microsoft.com/office/drawing/2014/main" val="1761657958"/>
                  </a:ext>
                </a:extLst>
              </a:tr>
              <a:tr h="24354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==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extLst>
                  <a:ext uri="{0D108BD9-81ED-4DB2-BD59-A6C34878D82A}">
                    <a16:rowId xmlns:a16="http://schemas.microsoft.com/office/drawing/2014/main" val="2826768163"/>
                  </a:ext>
                </a:extLst>
              </a:tr>
              <a:tr h="24354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!=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extLst>
                  <a:ext uri="{0D108BD9-81ED-4DB2-BD59-A6C34878D82A}">
                    <a16:rowId xmlns:a16="http://schemas.microsoft.com/office/drawing/2014/main" val="3523895251"/>
                  </a:ext>
                </a:extLst>
              </a:tr>
              <a:tr h="24354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Is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&gt;</a:t>
                      </a:r>
                    </a:p>
                  </a:txBody>
                  <a:tcPr marL="55350" marR="55350" marT="27675" marB="27675"/>
                </a:tc>
                <a:extLst>
                  <a:ext uri="{0D108BD9-81ED-4DB2-BD59-A6C34878D82A}">
                    <a16:rowId xmlns:a16="http://schemas.microsoft.com/office/drawing/2014/main" val="788902087"/>
                  </a:ext>
                </a:extLst>
              </a:tr>
              <a:tr h="24354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$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&lt;</a:t>
                      </a:r>
                    </a:p>
                  </a:txBody>
                  <a:tcPr marL="55350" marR="55350" marT="27675" marB="27675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5350" marR="55350" marT="27675" marB="27675"/>
                </a:tc>
                <a:extLst>
                  <a:ext uri="{0D108BD9-81ED-4DB2-BD59-A6C34878D82A}">
                    <a16:rowId xmlns:a16="http://schemas.microsoft.com/office/drawing/2014/main" val="425767210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0D9F9A-64C6-9262-E68A-21B104294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4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960A3-4EE1-43D2-ABFC-C7A03ED21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430C2-9421-F536-9148-F20F14AC7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164772"/>
          </a:xfrm>
        </p:spPr>
        <p:txBody>
          <a:bodyPr>
            <a:normAutofit/>
          </a:bodyPr>
          <a:lstStyle/>
          <a:p>
            <a:r>
              <a:rPr lang="sk-SK" noProof="0" dirty="0"/>
              <a:t>Tabuľka symbolov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ABCF9F-46A6-4370-8EC8-B1EDB4510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2046514"/>
            <a:ext cx="12192001" cy="4811485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7693C-C34C-E1AC-3898-5AFC20FA7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528" y="2481943"/>
            <a:ext cx="9710296" cy="3309258"/>
          </a:xfrm>
        </p:spPr>
        <p:txBody>
          <a:bodyPr>
            <a:normAutofit/>
          </a:bodyPr>
          <a:lstStyle/>
          <a:p>
            <a:endParaRPr lang="sk-SK" noProof="0" dirty="0"/>
          </a:p>
          <a:p>
            <a:r>
              <a:rPr lang="sk-SK" noProof="0" dirty="0"/>
              <a:t>Implementácia AVL stromom</a:t>
            </a:r>
          </a:p>
          <a:p>
            <a:endParaRPr lang="sk-SK" noProof="0" dirty="0"/>
          </a:p>
          <a:p>
            <a:r>
              <a:rPr lang="sk-SK" noProof="0" dirty="0"/>
              <a:t>Logaritmická zložitosť</a:t>
            </a:r>
          </a:p>
          <a:p>
            <a:endParaRPr lang="sk-SK" noProof="0" dirty="0"/>
          </a:p>
          <a:p>
            <a:r>
              <a:rPr lang="sk-SK" noProof="0" dirty="0"/>
              <a:t>Mangling, block_id, shadowing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94AA6-5B7D-8340-230F-8772CD34A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593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960A3-4EE1-43D2-ABFC-C7A03ED21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8EA62B-BDF8-7143-EE56-79E518461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164772"/>
          </a:xfrm>
        </p:spPr>
        <p:txBody>
          <a:bodyPr>
            <a:normAutofit/>
          </a:bodyPr>
          <a:lstStyle/>
          <a:p>
            <a:r>
              <a:rPr lang="sk-SK" noProof="0" dirty="0"/>
              <a:t>Sémantická analýza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ABCF9F-46A6-4370-8EC8-B1EDB4510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2046514"/>
            <a:ext cx="12192001" cy="4811485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4F294-A1DF-E12F-534E-4D74DF8FF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528" y="2481943"/>
            <a:ext cx="9710296" cy="330925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sk-SK" noProof="0"/>
          </a:p>
          <a:p>
            <a:pPr>
              <a:lnSpc>
                <a:spcPct val="90000"/>
              </a:lnSpc>
            </a:pPr>
            <a:r>
              <a:rPr lang="sk-SK" noProof="0" dirty="0"/>
              <a:t>Kontrola definícií a redefinícií</a:t>
            </a:r>
            <a:endParaRPr lang="sk-SK" noProof="0"/>
          </a:p>
          <a:p>
            <a:pPr>
              <a:lnSpc>
                <a:spcPct val="90000"/>
              </a:lnSpc>
            </a:pPr>
            <a:endParaRPr lang="sk-SK" noProof="0"/>
          </a:p>
          <a:p>
            <a:pPr>
              <a:lnSpc>
                <a:spcPct val="90000"/>
              </a:lnSpc>
            </a:pPr>
            <a:r>
              <a:rPr lang="sk-SK" noProof="0" dirty="0"/>
              <a:t>Kontrola parametrov</a:t>
            </a:r>
            <a:endParaRPr lang="sk-SK" noProof="0"/>
          </a:p>
          <a:p>
            <a:pPr>
              <a:lnSpc>
                <a:spcPct val="90000"/>
              </a:lnSpc>
            </a:pPr>
            <a:endParaRPr lang="sk-SK" noProof="0"/>
          </a:p>
          <a:p>
            <a:pPr>
              <a:lnSpc>
                <a:spcPct val="90000"/>
              </a:lnSpc>
            </a:pPr>
            <a:r>
              <a:rPr lang="sk-SK" noProof="0" dirty="0"/>
              <a:t>Typová kompatibilita</a:t>
            </a:r>
            <a:endParaRPr lang="sk-SK" noProof="0"/>
          </a:p>
          <a:p>
            <a:pPr>
              <a:lnSpc>
                <a:spcPct val="90000"/>
              </a:lnSpc>
            </a:pPr>
            <a:endParaRPr lang="sk-SK" noProof="0"/>
          </a:p>
          <a:p>
            <a:pPr>
              <a:lnSpc>
                <a:spcPct val="90000"/>
              </a:lnSpc>
            </a:pPr>
            <a:r>
              <a:rPr lang="sk-SK" noProof="0" dirty="0"/>
              <a:t>Odložená validácia volaní</a:t>
            </a:r>
            <a:endParaRPr lang="sk-SK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FFD1F-D227-6F06-379D-81D72181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024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696B9-B5F5-5498-7517-845C58F15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960A3-4EE1-43D2-ABFC-C7A03ED21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CE745B-0230-6419-17AD-55067A5C5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164772"/>
          </a:xfrm>
        </p:spPr>
        <p:txBody>
          <a:bodyPr>
            <a:normAutofit/>
          </a:bodyPr>
          <a:lstStyle/>
          <a:p>
            <a:r>
              <a:rPr lang="sk-SK" noProof="0" dirty="0"/>
              <a:t>Generovanie IFJcode25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ABCF9F-46A6-4370-8EC8-B1EDB4510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2046514"/>
            <a:ext cx="12192001" cy="4811485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6CEE1-40A1-6EFC-3A95-AF6084C63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528" y="2481943"/>
            <a:ext cx="9710296" cy="3309258"/>
          </a:xfrm>
        </p:spPr>
        <p:txBody>
          <a:bodyPr>
            <a:normAutofit/>
          </a:bodyPr>
          <a:lstStyle/>
          <a:p>
            <a:endParaRPr lang="sk-SK" noProof="0" dirty="0"/>
          </a:p>
          <a:p>
            <a:r>
              <a:rPr lang="sk-SK" noProof="0" dirty="0"/>
              <a:t>Syntaxou riadený preklad</a:t>
            </a:r>
          </a:p>
          <a:p>
            <a:endParaRPr lang="sk-SK" noProof="0" dirty="0"/>
          </a:p>
          <a:p>
            <a:r>
              <a:rPr lang="sk-SK" noProof="0" dirty="0"/>
              <a:t>3-buffrový system</a:t>
            </a:r>
          </a:p>
          <a:p>
            <a:endParaRPr lang="sk-SK" noProof="0" dirty="0"/>
          </a:p>
          <a:p>
            <a:r>
              <a:rPr lang="sk-SK" noProof="0" dirty="0"/>
              <a:t>DEFVAR až po parsovaní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10B50-91DD-4ABD-471C-C8EDD4F3B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763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893E1-1628-3BBC-1B98-450DA52A1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960A3-4EE1-43D2-ABFC-C7A03ED21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E93DE6-C434-F24F-B23B-AB57B1B7D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164772"/>
          </a:xfrm>
        </p:spPr>
        <p:txBody>
          <a:bodyPr>
            <a:normAutofit/>
          </a:bodyPr>
          <a:lstStyle/>
          <a:p>
            <a:r>
              <a:rPr lang="sk-SK" noProof="0" dirty="0"/>
              <a:t>IFJcode25 – implementačné detaily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ABCF9F-46A6-4370-8EC8-B1EDB4510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2046514"/>
            <a:ext cx="12192001" cy="4811485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16359-B6C6-A40F-E258-1CFC14A3E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528" y="2481943"/>
            <a:ext cx="9710296" cy="3309258"/>
          </a:xfrm>
        </p:spPr>
        <p:txBody>
          <a:bodyPr>
            <a:normAutofit/>
          </a:bodyPr>
          <a:lstStyle/>
          <a:p>
            <a:endParaRPr lang="sk-SK" noProof="0" dirty="0"/>
          </a:p>
          <a:p>
            <a:r>
              <a:rPr lang="sk-SK" noProof="0" dirty="0"/>
              <a:t>Escaping stringov</a:t>
            </a:r>
          </a:p>
          <a:p>
            <a:endParaRPr lang="sk-SK" noProof="0" dirty="0"/>
          </a:p>
          <a:p>
            <a:r>
              <a:rPr lang="sk-SK" noProof="0" dirty="0"/>
              <a:t>Polymorfné operatory</a:t>
            </a:r>
          </a:p>
          <a:p>
            <a:endParaRPr lang="sk-SK" noProof="0" dirty="0"/>
          </a:p>
          <a:p>
            <a:r>
              <a:rPr lang="sk-SK" noProof="0" dirty="0"/>
              <a:t>Labely, rámce, runtime kontroly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B5164-FA79-FCA0-EE6B-417D53F31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096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D285F3-D49F-6C6F-1AC4-8FF624DB0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DCB38-49C3-38B4-5D66-3B84F08B7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sk-SK" noProof="0" dirty="0"/>
              <a:t>Chybové hlásenia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B026B3-991D-4F10-7711-A493AFDB29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9892898"/>
              </p:ext>
            </p:extLst>
          </p:nvPr>
        </p:nvGraphicFramePr>
        <p:xfrm>
          <a:off x="1343056" y="1731963"/>
          <a:ext cx="9496364" cy="40592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92795">
                  <a:extLst>
                    <a:ext uri="{9D8B030D-6E8A-4147-A177-3AD203B41FA5}">
                      <a16:colId xmlns:a16="http://schemas.microsoft.com/office/drawing/2014/main" val="2589811324"/>
                    </a:ext>
                  </a:extLst>
                </a:gridCol>
                <a:gridCol w="8603569">
                  <a:extLst>
                    <a:ext uri="{9D8B030D-6E8A-4147-A177-3AD203B41FA5}">
                      <a16:colId xmlns:a16="http://schemas.microsoft.com/office/drawing/2014/main" val="1878262603"/>
                    </a:ext>
                  </a:extLst>
                </a:gridCol>
              </a:tblGrid>
              <a:tr h="369022">
                <a:tc>
                  <a:txBody>
                    <a:bodyPr/>
                    <a:lstStyle/>
                    <a:p>
                      <a:pPr algn="ctr"/>
                      <a:r>
                        <a:rPr lang="sk-SK" sz="1700" noProof="0"/>
                        <a:t>Kód</a:t>
                      </a:r>
                    </a:p>
                  </a:txBody>
                  <a:tcPr marL="83869" marR="83869" marT="41934" marB="41934"/>
                </a:tc>
                <a:tc>
                  <a:txBody>
                    <a:bodyPr/>
                    <a:lstStyle/>
                    <a:p>
                      <a:r>
                        <a:rPr lang="sk-SK" sz="1700" noProof="0"/>
                        <a:t>Popis chyby</a:t>
                      </a:r>
                    </a:p>
                  </a:txBody>
                  <a:tcPr marL="83869" marR="83869" marT="41934" marB="41934"/>
                </a:tc>
                <a:extLst>
                  <a:ext uri="{0D108BD9-81ED-4DB2-BD59-A6C34878D82A}">
                    <a16:rowId xmlns:a16="http://schemas.microsoft.com/office/drawing/2014/main" val="3520156539"/>
                  </a:ext>
                </a:extLst>
              </a:tr>
              <a:tr h="369022">
                <a:tc>
                  <a:txBody>
                    <a:bodyPr/>
                    <a:lstStyle/>
                    <a:p>
                      <a:pPr algn="ctr"/>
                      <a:r>
                        <a:rPr lang="sk-SK" sz="1700" noProof="0"/>
                        <a:t>1</a:t>
                      </a:r>
                    </a:p>
                  </a:txBody>
                  <a:tcPr marL="83869" marR="83869" marT="41934" marB="41934"/>
                </a:tc>
                <a:tc>
                  <a:txBody>
                    <a:bodyPr/>
                    <a:lstStyle/>
                    <a:p>
                      <a:r>
                        <a:rPr lang="sk-SK" sz="1700" noProof="0"/>
                        <a:t>Chyba v rámci lexikálnej analýzy (ERR_LEXICAL)</a:t>
                      </a:r>
                    </a:p>
                  </a:txBody>
                  <a:tcPr marL="83869" marR="83869" marT="41934" marB="41934"/>
                </a:tc>
                <a:extLst>
                  <a:ext uri="{0D108BD9-81ED-4DB2-BD59-A6C34878D82A}">
                    <a16:rowId xmlns:a16="http://schemas.microsoft.com/office/drawing/2014/main" val="73342101"/>
                  </a:ext>
                </a:extLst>
              </a:tr>
              <a:tr h="369022">
                <a:tc>
                  <a:txBody>
                    <a:bodyPr/>
                    <a:lstStyle/>
                    <a:p>
                      <a:pPr algn="ctr"/>
                      <a:r>
                        <a:rPr lang="sk-SK" sz="1700" noProof="0"/>
                        <a:t>2</a:t>
                      </a:r>
                    </a:p>
                  </a:txBody>
                  <a:tcPr marL="83869" marR="83869" marT="41934" marB="41934"/>
                </a:tc>
                <a:tc>
                  <a:txBody>
                    <a:bodyPr/>
                    <a:lstStyle/>
                    <a:p>
                      <a:r>
                        <a:rPr lang="sk-SK" sz="1700" noProof="0"/>
                        <a:t>Chyba v rámci syntaktickej analýzy (ERR_SYNTAX)</a:t>
                      </a:r>
                    </a:p>
                  </a:txBody>
                  <a:tcPr marL="83869" marR="83869" marT="41934" marB="41934"/>
                </a:tc>
                <a:extLst>
                  <a:ext uri="{0D108BD9-81ED-4DB2-BD59-A6C34878D82A}">
                    <a16:rowId xmlns:a16="http://schemas.microsoft.com/office/drawing/2014/main" val="1055013778"/>
                  </a:ext>
                </a:extLst>
              </a:tr>
              <a:tr h="369022">
                <a:tc>
                  <a:txBody>
                    <a:bodyPr/>
                    <a:lstStyle/>
                    <a:p>
                      <a:pPr algn="ctr"/>
                      <a:r>
                        <a:rPr lang="sk-SK" sz="1700" noProof="0"/>
                        <a:t>3</a:t>
                      </a:r>
                    </a:p>
                  </a:txBody>
                  <a:tcPr marL="83869" marR="83869" marT="41934" marB="41934"/>
                </a:tc>
                <a:tc>
                  <a:txBody>
                    <a:bodyPr/>
                    <a:lstStyle/>
                    <a:p>
                      <a:r>
                        <a:rPr lang="sk-SK" sz="1700" noProof="0"/>
                        <a:t>Nedefinovaná funkcia alebo premenná (ERR_SEM_UNDEF)</a:t>
                      </a:r>
                    </a:p>
                  </a:txBody>
                  <a:tcPr marL="83869" marR="83869" marT="41934" marB="41934"/>
                </a:tc>
                <a:extLst>
                  <a:ext uri="{0D108BD9-81ED-4DB2-BD59-A6C34878D82A}">
                    <a16:rowId xmlns:a16="http://schemas.microsoft.com/office/drawing/2014/main" val="4033742642"/>
                  </a:ext>
                </a:extLst>
              </a:tr>
              <a:tr h="369022">
                <a:tc>
                  <a:txBody>
                    <a:bodyPr/>
                    <a:lstStyle/>
                    <a:p>
                      <a:pPr algn="ctr"/>
                      <a:r>
                        <a:rPr lang="sk-SK" sz="1700" noProof="0"/>
                        <a:t>4</a:t>
                      </a:r>
                    </a:p>
                  </a:txBody>
                  <a:tcPr marL="83869" marR="83869" marT="41934" marB="41934"/>
                </a:tc>
                <a:tc>
                  <a:txBody>
                    <a:bodyPr/>
                    <a:lstStyle/>
                    <a:p>
                      <a:r>
                        <a:rPr lang="sk-SK" sz="1700" noProof="0"/>
                        <a:t>Redefinícia funkcie alebo premennej (ERR_SEM_REDEF)</a:t>
                      </a:r>
                    </a:p>
                  </a:txBody>
                  <a:tcPr marL="83869" marR="83869" marT="41934" marB="41934"/>
                </a:tc>
                <a:extLst>
                  <a:ext uri="{0D108BD9-81ED-4DB2-BD59-A6C34878D82A}">
                    <a16:rowId xmlns:a16="http://schemas.microsoft.com/office/drawing/2014/main" val="1948752609"/>
                  </a:ext>
                </a:extLst>
              </a:tr>
              <a:tr h="369022">
                <a:tc>
                  <a:txBody>
                    <a:bodyPr/>
                    <a:lstStyle/>
                    <a:p>
                      <a:pPr algn="ctr"/>
                      <a:r>
                        <a:rPr lang="sk-SK" sz="1700" noProof="0"/>
                        <a:t>5</a:t>
                      </a:r>
                    </a:p>
                  </a:txBody>
                  <a:tcPr marL="83869" marR="83869" marT="41934" marB="41934"/>
                </a:tc>
                <a:tc>
                  <a:txBody>
                    <a:bodyPr/>
                    <a:lstStyle/>
                    <a:p>
                      <a:r>
                        <a:rPr lang="sk-SK" sz="1700" noProof="0"/>
                        <a:t>Nesprávny počet parametrov/typ vstavanej f. (ERR_SEM_PARAMS)</a:t>
                      </a:r>
                    </a:p>
                  </a:txBody>
                  <a:tcPr marL="83869" marR="83869" marT="41934" marB="41934"/>
                </a:tc>
                <a:extLst>
                  <a:ext uri="{0D108BD9-81ED-4DB2-BD59-A6C34878D82A}">
                    <a16:rowId xmlns:a16="http://schemas.microsoft.com/office/drawing/2014/main" val="2600130435"/>
                  </a:ext>
                </a:extLst>
              </a:tr>
              <a:tr h="369022">
                <a:tc>
                  <a:txBody>
                    <a:bodyPr/>
                    <a:lstStyle/>
                    <a:p>
                      <a:pPr algn="ctr"/>
                      <a:r>
                        <a:rPr lang="sk-SK" sz="1700" noProof="0"/>
                        <a:t>6</a:t>
                      </a:r>
                    </a:p>
                  </a:txBody>
                  <a:tcPr marL="83869" marR="83869" marT="41934" marB="41934"/>
                </a:tc>
                <a:tc>
                  <a:txBody>
                    <a:bodyPr/>
                    <a:lstStyle/>
                    <a:p>
                      <a:r>
                        <a:rPr lang="sk-SK" sz="1700" noProof="0"/>
                        <a:t>Chyba typovej kompatibility vo výrazoch (ERR_SEM_TYPE_COMPAT)</a:t>
                      </a:r>
                    </a:p>
                  </a:txBody>
                  <a:tcPr marL="83869" marR="83869" marT="41934" marB="41934"/>
                </a:tc>
                <a:extLst>
                  <a:ext uri="{0D108BD9-81ED-4DB2-BD59-A6C34878D82A}">
                    <a16:rowId xmlns:a16="http://schemas.microsoft.com/office/drawing/2014/main" val="703818730"/>
                  </a:ext>
                </a:extLst>
              </a:tr>
              <a:tr h="369022">
                <a:tc>
                  <a:txBody>
                    <a:bodyPr/>
                    <a:lstStyle/>
                    <a:p>
                      <a:pPr algn="ctr"/>
                      <a:r>
                        <a:rPr lang="sk-SK" sz="1700" noProof="0"/>
                        <a:t>10</a:t>
                      </a:r>
                    </a:p>
                  </a:txBody>
                  <a:tcPr marL="83869" marR="83869" marT="41934" marB="41934"/>
                </a:tc>
                <a:tc>
                  <a:txBody>
                    <a:bodyPr/>
                    <a:lstStyle/>
                    <a:p>
                      <a:r>
                        <a:rPr lang="sk-SK" sz="1700" noProof="0"/>
                        <a:t>Ostatné sémantické chyby (ERR_SEM_OTHER)</a:t>
                      </a:r>
                    </a:p>
                  </a:txBody>
                  <a:tcPr marL="83869" marR="83869" marT="41934" marB="41934"/>
                </a:tc>
                <a:extLst>
                  <a:ext uri="{0D108BD9-81ED-4DB2-BD59-A6C34878D82A}">
                    <a16:rowId xmlns:a16="http://schemas.microsoft.com/office/drawing/2014/main" val="1508257805"/>
                  </a:ext>
                </a:extLst>
              </a:tr>
              <a:tr h="369022">
                <a:tc>
                  <a:txBody>
                    <a:bodyPr/>
                    <a:lstStyle/>
                    <a:p>
                      <a:pPr algn="ctr"/>
                      <a:r>
                        <a:rPr lang="sk-SK" sz="1700" noProof="0"/>
                        <a:t>25</a:t>
                      </a:r>
                    </a:p>
                  </a:txBody>
                  <a:tcPr marL="83869" marR="83869" marT="41934" marB="41934"/>
                </a:tc>
                <a:tc>
                  <a:txBody>
                    <a:bodyPr/>
                    <a:lstStyle/>
                    <a:p>
                      <a:r>
                        <a:rPr lang="sk-SK" sz="1700" noProof="0"/>
                        <a:t>Behová chyba – zlý typ parametru (ERR_RUNTIME_PARAM_TYPE)</a:t>
                      </a:r>
                    </a:p>
                  </a:txBody>
                  <a:tcPr marL="83869" marR="83869" marT="41934" marB="41934"/>
                </a:tc>
                <a:extLst>
                  <a:ext uri="{0D108BD9-81ED-4DB2-BD59-A6C34878D82A}">
                    <a16:rowId xmlns:a16="http://schemas.microsoft.com/office/drawing/2014/main" val="1317616849"/>
                  </a:ext>
                </a:extLst>
              </a:tr>
              <a:tr h="369022">
                <a:tc>
                  <a:txBody>
                    <a:bodyPr/>
                    <a:lstStyle/>
                    <a:p>
                      <a:pPr algn="ctr"/>
                      <a:r>
                        <a:rPr lang="sk-SK" sz="1700" noProof="0"/>
                        <a:t>26</a:t>
                      </a:r>
                    </a:p>
                  </a:txBody>
                  <a:tcPr marL="83869" marR="83869" marT="41934" marB="41934"/>
                </a:tc>
                <a:tc>
                  <a:txBody>
                    <a:bodyPr/>
                    <a:lstStyle/>
                    <a:p>
                      <a:r>
                        <a:rPr lang="sk-SK" sz="1700" noProof="0"/>
                        <a:t>Behová chyba – typová kompatibilita (ERR_RUNTIME_TYPE_COMPAT)</a:t>
                      </a:r>
                    </a:p>
                  </a:txBody>
                  <a:tcPr marL="83869" marR="83869" marT="41934" marB="41934"/>
                </a:tc>
                <a:extLst>
                  <a:ext uri="{0D108BD9-81ED-4DB2-BD59-A6C34878D82A}">
                    <a16:rowId xmlns:a16="http://schemas.microsoft.com/office/drawing/2014/main" val="915164918"/>
                  </a:ext>
                </a:extLst>
              </a:tr>
              <a:tr h="369022">
                <a:tc>
                  <a:txBody>
                    <a:bodyPr/>
                    <a:lstStyle/>
                    <a:p>
                      <a:pPr algn="ctr"/>
                      <a:r>
                        <a:rPr lang="sk-SK" sz="1700" noProof="0"/>
                        <a:t>99</a:t>
                      </a:r>
                    </a:p>
                  </a:txBody>
                  <a:tcPr marL="83869" marR="83869" marT="41934" marB="41934"/>
                </a:tc>
                <a:tc>
                  <a:txBody>
                    <a:bodyPr/>
                    <a:lstStyle/>
                    <a:p>
                      <a:r>
                        <a:rPr lang="sk-SK" sz="1700" noProof="0"/>
                        <a:t>Interná chyba prekladača (ERR_INTERNAL)</a:t>
                      </a:r>
                    </a:p>
                  </a:txBody>
                  <a:tcPr marL="83869" marR="83869" marT="41934" marB="41934"/>
                </a:tc>
                <a:extLst>
                  <a:ext uri="{0D108BD9-81ED-4DB2-BD59-A6C34878D82A}">
                    <a16:rowId xmlns:a16="http://schemas.microsoft.com/office/drawing/2014/main" val="335295773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E9477A-60FD-688B-8754-78FED8FCF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468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4050DB-4194-1C47-A386-9055BE4DD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960A3-4EE1-43D2-ABFC-C7A03ED21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CE0E21-E2DF-0F8E-72F5-A42392D69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164772"/>
          </a:xfrm>
        </p:spPr>
        <p:txBody>
          <a:bodyPr>
            <a:normAutofit/>
          </a:bodyPr>
          <a:lstStyle/>
          <a:p>
            <a:r>
              <a:rPr lang="sk-SK" noProof="0" dirty="0"/>
              <a:t>Testovanie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ABCF9F-46A6-4370-8EC8-B1EDB4510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2046514"/>
            <a:ext cx="12192001" cy="4811485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60D68-36EA-8434-9D09-9EEDAE31D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528" y="2481943"/>
            <a:ext cx="9710296" cy="3309258"/>
          </a:xfrm>
        </p:spPr>
        <p:txBody>
          <a:bodyPr>
            <a:normAutofit/>
          </a:bodyPr>
          <a:lstStyle/>
          <a:p>
            <a:endParaRPr lang="sk-SK" noProof="0" dirty="0"/>
          </a:p>
          <a:p>
            <a:r>
              <a:rPr lang="sk-SK" noProof="0" dirty="0"/>
              <a:t>Pozitívne a negatívne testy</a:t>
            </a:r>
          </a:p>
          <a:p>
            <a:endParaRPr lang="sk-SK" noProof="0" dirty="0"/>
          </a:p>
          <a:p>
            <a:r>
              <a:rPr lang="sk-SK" noProof="0" dirty="0">
                <a:latin typeface="Consolas" panose="020B0609020204030204" pitchFamily="49" charset="0"/>
              </a:rPr>
              <a:t>scanner_test.c</a:t>
            </a:r>
            <a:r>
              <a:rPr lang="sk-SK" noProof="0" dirty="0"/>
              <a:t>, </a:t>
            </a:r>
            <a:r>
              <a:rPr lang="sk-SK" noProof="0" dirty="0">
                <a:latin typeface="Consolas" panose="020B0609020204030204" pitchFamily="49" charset="0"/>
              </a:rPr>
              <a:t>symtable_test.c</a:t>
            </a:r>
          </a:p>
          <a:p>
            <a:pPr marL="36900" indent="0">
              <a:buNone/>
            </a:pPr>
            <a:endParaRPr lang="sk-SK" noProof="0" dirty="0"/>
          </a:p>
          <a:p>
            <a:r>
              <a:rPr lang="sk-SK" noProof="0" dirty="0"/>
              <a:t>Manuálne testy počas vývoja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706B6-C832-9AAF-9BBD-423DB61DD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131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6484E2-99EA-D8C9-C2C8-4115819ED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960A3-4EE1-43D2-ABFC-C7A03ED21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5A7F3-E55A-3C9A-A4BC-0A24263F1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164772"/>
          </a:xfrm>
        </p:spPr>
        <p:txBody>
          <a:bodyPr>
            <a:normAutofit/>
          </a:bodyPr>
          <a:lstStyle/>
          <a:p>
            <a:r>
              <a:rPr lang="sk-SK" noProof="0" dirty="0"/>
              <a:t>Tímová spolupráca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ABCF9F-46A6-4370-8EC8-B1EDB4510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2046514"/>
            <a:ext cx="12192001" cy="4811485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AED33-F7BE-CD04-C087-EA833B95E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528" y="2481943"/>
            <a:ext cx="9710296" cy="3309258"/>
          </a:xfrm>
        </p:spPr>
        <p:txBody>
          <a:bodyPr>
            <a:normAutofit/>
          </a:bodyPr>
          <a:lstStyle/>
          <a:p>
            <a:endParaRPr lang="sk-SK" noProof="0" dirty="0"/>
          </a:p>
          <a:p>
            <a:r>
              <a:rPr lang="sk-SK" noProof="0" dirty="0"/>
              <a:t>Rozdelenie úloh</a:t>
            </a:r>
          </a:p>
          <a:p>
            <a:pPr lvl="1"/>
            <a:endParaRPr lang="sk-SK" noProof="0" dirty="0"/>
          </a:p>
          <a:p>
            <a:r>
              <a:rPr lang="sk-SK" noProof="0" dirty="0"/>
              <a:t>GitHub workflow</a:t>
            </a:r>
          </a:p>
          <a:p>
            <a:endParaRPr lang="sk-SK" noProof="0" dirty="0"/>
          </a:p>
          <a:p>
            <a:r>
              <a:rPr lang="sk-SK" noProof="0" dirty="0"/>
              <a:t>Konzultácie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4610C-7FFF-CDF4-B646-370FB214D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579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CDF27A-195C-8838-800D-175C0CC6C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960A3-4EE1-43D2-ABFC-C7A03ED21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2DAF18-2B63-64FC-0043-FAC2F620C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164772"/>
          </a:xfrm>
        </p:spPr>
        <p:txBody>
          <a:bodyPr>
            <a:normAutofit/>
          </a:bodyPr>
          <a:lstStyle/>
          <a:p>
            <a:r>
              <a:rPr lang="sk-SK" noProof="0" dirty="0"/>
              <a:t>Záver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ABCF9F-46A6-4370-8EC8-B1EDB4510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2046514"/>
            <a:ext cx="12192001" cy="4811485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0EE67-7D31-30B7-D256-0CF722440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528" y="2481943"/>
            <a:ext cx="9710296" cy="3309258"/>
          </a:xfrm>
        </p:spPr>
        <p:txBody>
          <a:bodyPr>
            <a:normAutofit/>
          </a:bodyPr>
          <a:lstStyle/>
          <a:p>
            <a:endParaRPr lang="sk-SK" noProof="0" dirty="0"/>
          </a:p>
          <a:p>
            <a:r>
              <a:rPr lang="sk-SK" noProof="0" dirty="0"/>
              <a:t>Funkčný prekladač podľa špecifikácie</a:t>
            </a:r>
          </a:p>
          <a:p>
            <a:endParaRPr lang="sk-SK" noProof="0" dirty="0"/>
          </a:p>
          <a:p>
            <a:r>
              <a:rPr lang="sk-SK" noProof="0" dirty="0"/>
              <a:t>Možnosti rozšírenia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F3435-E0B2-1B37-14C0-DFC937447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C2247-F8A7-4A51-8038-FC0423DEE27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9873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77</TotalTime>
  <Words>566</Words>
  <Application>Microsoft Office PowerPoint</Application>
  <PresentationFormat>Widescreen</PresentationFormat>
  <Paragraphs>352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Calisto MT</vt:lpstr>
      <vt:lpstr>Calisto MT </vt:lpstr>
      <vt:lpstr>Consolas</vt:lpstr>
      <vt:lpstr>SFBX1095</vt:lpstr>
      <vt:lpstr>SFRM1095</vt:lpstr>
      <vt:lpstr>Wingdings 2</vt:lpstr>
      <vt:lpstr>Slate</vt:lpstr>
      <vt:lpstr>Prekladač IFJ25</vt:lpstr>
      <vt:lpstr>Cieľ projektu</vt:lpstr>
      <vt:lpstr>Architektúra projektu</vt:lpstr>
      <vt:lpstr>Lexikálna analýza</vt:lpstr>
      <vt:lpstr>Lexikálna analýza</vt:lpstr>
      <vt:lpstr>Diagram konečného automatu</vt:lpstr>
      <vt:lpstr>Syntaktická analýza</vt:lpstr>
      <vt:lpstr>Precedenčná analýza</vt:lpstr>
      <vt:lpstr>Tabuľka symbolov</vt:lpstr>
      <vt:lpstr>Sémantická analýza</vt:lpstr>
      <vt:lpstr>Generovanie IFJcode25</vt:lpstr>
      <vt:lpstr>IFJcode25 – implementačné detaily</vt:lpstr>
      <vt:lpstr>Chybové hlásenia</vt:lpstr>
      <vt:lpstr>Testovanie</vt:lpstr>
      <vt:lpstr>Tímová spolupráca</vt:lpstr>
      <vt:lpstr>Záver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Vrbiniak Jaroslav (270461)</dc:creator>
  <cp:lastModifiedBy>Vrbiniak Jaroslav (270461)</cp:lastModifiedBy>
  <cp:revision>8</cp:revision>
  <dcterms:created xsi:type="dcterms:W3CDTF">2025-12-07T16:25:17Z</dcterms:created>
  <dcterms:modified xsi:type="dcterms:W3CDTF">2025-12-07T22:30:43Z</dcterms:modified>
</cp:coreProperties>
</file>